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(%)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LITE</c:v>
                  </c:pt>
                  <c:pt idx="1">
                    <c:v>COHR</c:v>
                  </c:pt>
                  <c:pt idx="2">
                    <c:v>VRT</c:v>
                  </c:pt>
                  <c:pt idx="3">
                    <c:v>GOOG</c:v>
                  </c:pt>
                  <c:pt idx="4">
                    <c:v>MRVL</c:v>
                  </c:pt>
                  <c:pt idx="5">
                    <c:v>GLD</c:v>
                  </c:pt>
                  <c:pt idx="6">
                    <c:v>EQIX</c:v>
                  </c:pt>
                  <c:pt idx="7">
                    <c:v>AMD</c:v>
                  </c:pt>
                  <c:pt idx="8">
                    <c:v>SNDR</c:v>
                  </c:pt>
                  <c:pt idx="9">
                    <c:v>AVGO</c:v>
                  </c:pt>
                  <c:pt idx="10">
                    <c:v>ANET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601.6</c:v>
                </c:pt>
                <c:pt idx="1">
                  <c:v>121</c:v>
                </c:pt>
                <c:pt idx="2">
                  <c:v>87.6</c:v>
                </c:pt>
                <c:pt idx="3">
                  <c:v>50.7</c:v>
                </c:pt>
                <c:pt idx="4">
                  <c:v>41.6</c:v>
                </c:pt>
                <c:pt idx="5">
                  <c:v>39.9</c:v>
                </c:pt>
                <c:pt idx="6">
                  <c:v>32.1</c:v>
                </c:pt>
                <c:pt idx="7">
                  <c:v>28.2</c:v>
                </c:pt>
                <c:pt idx="8">
                  <c:v>15.8</c:v>
                </c:pt>
                <c:pt idx="9">
                  <c:v>10.1</c:v>
                </c:pt>
                <c:pt idx="10">
                  <c:v>-4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3C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2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9"/>
        </a:solidFill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Beta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EQIX</c:v>
                  </c:pt>
                  <c:pt idx="1">
                    <c:v>GLD</c:v>
                  </c:pt>
                  <c:pt idx="2">
                    <c:v>SNDR</c:v>
                  </c:pt>
                  <c:pt idx="3">
                    <c:v>GOOG</c:v>
                  </c:pt>
                  <c:pt idx="4">
                    <c:v>ANET</c:v>
                  </c:pt>
                  <c:pt idx="5">
                    <c:v>AVGO</c:v>
                  </c:pt>
                  <c:pt idx="6">
                    <c:v>MRVL</c:v>
                  </c:pt>
                  <c:pt idx="7">
                    <c:v>AMD</c:v>
                  </c:pt>
                  <c:pt idx="8">
                    <c:v>VRT</c:v>
                  </c:pt>
                  <c:pt idx="9">
                    <c:v>COHR</c:v>
                  </c:pt>
                  <c:pt idx="10">
                    <c:v>LITE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0.44</c:v>
                </c:pt>
                <c:pt idx="1">
                  <c:v>0.53</c:v>
                </c:pt>
                <c:pt idx="2">
                  <c:v>1.23</c:v>
                </c:pt>
                <c:pt idx="3">
                  <c:v>1.28</c:v>
                </c:pt>
                <c:pt idx="4">
                  <c:v>2.03</c:v>
                </c:pt>
                <c:pt idx="5">
                  <c:v>2.13</c:v>
                </c:pt>
                <c:pt idx="6">
                  <c:v>2.33</c:v>
                </c:pt>
                <c:pt idx="7">
                  <c:v>2.63</c:v>
                </c:pt>
                <c:pt idx="8">
                  <c:v>2.72</c:v>
                </c:pt>
                <c:pt idx="9">
                  <c:v>3.02</c:v>
                </c:pt>
                <c:pt idx="10">
                  <c:v>3.09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4A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3C64"/>
        </a:solidFill>
        <a:ln>
          <a:noFill/>
        </a:ln>
        <a:effectLst/>
      </c:spPr>
    </c:plotArea>
    <c:plotVisOnly val="1"/>
    <c:dispBlanksAs val="span"/>
  </c:chart>
  <c:spPr>
    <a:solidFill>
      <a:srgbClr val="1C3C6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C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606040"/>
            <a:ext cx="50292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A838"/>
                </a:solidFill>
              </a:rPr>
              <a:t>INVESTMENT COMMITTEE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Equity Portfolio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Photonics &amp; Technology Growth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Zaeem Hasan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Quantitative Research  |  April 08,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731520"/>
            <a:ext cx="2560320" cy="3840480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822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</a:rPr>
              <a:t>86.6%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09360" y="1243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Total Return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1536192"/>
            <a:ext cx="182880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38"/>
                </a:solidFill>
              </a:rPr>
              <a:t>2.53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2157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Sharpe Ratio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2450592"/>
            <a:ext cx="182880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040"/>
                </a:solidFill>
              </a:rPr>
              <a:t>1.95×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09360" y="3072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Portfolio Beta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3364992"/>
            <a:ext cx="182880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98DB"/>
                </a:solidFill>
              </a:rPr>
              <a:t>11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9360" y="3986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Positions Held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3C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C64"/>
                </a:solidFill>
              </a:rPr>
              <a:t>AGENDA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57200" cy="4206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C64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441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Portfolio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636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Construction, tickers, sector themes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457200" cy="4206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C64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Return Attribution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2311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Backtest vs SPY — Module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660904"/>
            <a:ext cx="457200" cy="4206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609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C64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6791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&amp; VaR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8986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Three-method VaR, beta, ratios — Module 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457200" cy="4206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284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C64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467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Technical Signal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5661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RSI, MA, Bollinger, Z-score — Module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95928"/>
            <a:ext cx="457200" cy="4206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959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C64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014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Limitations &amp; Next Steps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233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Honest constraints and v2 roadmap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1188720"/>
            <a:ext cx="3108960" cy="3474720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261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E8A838"/>
                </a:solidFill>
              </a:rPr>
              <a:t>METHODOLOGY STACK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6072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Python · yfinance · pandas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1993392"/>
            <a:ext cx="237744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Backtester → VaR → Signals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633472"/>
            <a:ext cx="237744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 Markdown → PDF Memo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273552"/>
            <a:ext cx="237744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GitHub · Colab · Posit Cloud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PORTFOLIO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Positions Across Five Sector Themes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73152" cy="1234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5270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Photonics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  COHR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17320"/>
            <a:ext cx="73152" cy="12344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5270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Semiconductor Infra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46704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AVGO  MRVL  AMD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17320"/>
            <a:ext cx="73152" cy="1234440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5270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Data Center &amp; Net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1344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C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EQIX  ANET  VRT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73152" cy="1234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898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Large-Cap Tech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" y="3246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0" y="2788920"/>
            <a:ext cx="2651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788920"/>
            <a:ext cx="73152" cy="1234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2898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Commodity Hedge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46704" y="3246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1325880"/>
            <a:ext cx="2834640" cy="3291840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E8A838"/>
                </a:solidFill>
              </a:rPr>
              <a:t>CONSTRUCTION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3504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Entry Date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694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Aug 8,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2nd Tranche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694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Aug 26, 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AMD Top-Up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6948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Sep 13, 2025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Capital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948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~$66.63 deployed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Structure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6948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Fractional shares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4069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Rebalancing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6948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None — buy &amp; hold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492A6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PORTFOLIO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Summary — Inception to April 2026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347472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371600"/>
                <a:gridCol w="1188720"/>
                <a:gridCol w="100584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Entry 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Current 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Return (%)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P&amp;L ($)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LITE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$116.27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$815.75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601.6%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+$30.80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3.09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COHR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$115.44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$255.10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121.0%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+$7.79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3.02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VRT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$139.81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$262.30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87.6%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+$4.63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2.72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GOOG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$201.64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$303.93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50.7%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+$2.54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1.28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MRVL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$77.23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$109.38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41.6%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+$2.37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2.33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GLD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$308.55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$431.81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39.9%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+$2.01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0.53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EQIX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$762.69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$1,007.29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32.1%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+$1.51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0.44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AMD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$172.76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$221.53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28.2%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+$5.00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2.63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SNDR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$23.70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$27.44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15.8%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+$0.61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AVGO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$303.23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$333.97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10.1%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</a:rPr>
                        <a:t>+$0.61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2.13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ANET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$139.18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$133.64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74C3C"/>
                          </a:solidFill>
                        </a:rPr>
                        <a:t>-4.0%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74C3C"/>
                          </a:solidFill>
                        </a:rPr>
                        <a:t>-$0.16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2.03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492A6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C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C64"/>
                </a:solidFill>
              </a:rPr>
              <a:t>MODULE 1 · BACKTESTER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vs SPY — August 2025 to April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280160"/>
          </a:xfrm>
          <a:prstGeom prst="rect">
            <a:avLst/>
          </a:prstGeom>
          <a:solidFill>
            <a:srgbClr val="2C3E50"/>
          </a:solidFill>
          <a:ln w="635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9202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27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</a:rPr>
              <a:t>86.6%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2119579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Total Return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920240" cy="1280160"/>
          </a:xfrm>
          <a:prstGeom prst="rect">
            <a:avLst/>
          </a:prstGeom>
          <a:solidFill>
            <a:srgbClr val="2C3E50"/>
          </a:solidFill>
          <a:ln w="635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325880"/>
            <a:ext cx="1920240" cy="54864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527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040"/>
                </a:solidFill>
              </a:rPr>
              <a:t>~5%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2119579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SPY Return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1920240" cy="1280160"/>
          </a:xfrm>
          <a:prstGeom prst="rect">
            <a:avLst/>
          </a:prstGeom>
          <a:solidFill>
            <a:srgbClr val="2C3E50"/>
          </a:solidFill>
          <a:ln w="635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25880"/>
            <a:ext cx="192024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527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</a:rPr>
              <a:t>81.6pp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45152" y="2119579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Outperformance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325880"/>
            <a:ext cx="1920240" cy="1280160"/>
          </a:xfrm>
          <a:prstGeom prst="rect">
            <a:avLst/>
          </a:prstGeom>
          <a:solidFill>
            <a:srgbClr val="2C3E50"/>
          </a:solidFill>
          <a:ln w="635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325880"/>
            <a:ext cx="192024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1527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</a:rPr>
              <a:t>165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48272" y="2119579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Trading Days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8412480" cy="1691640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52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838"/>
                </a:solidFill>
              </a:rPr>
              <a:t>KEY OBSERVATIONS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312724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Portfolio value grew from $66.63 deployed to ~$124 — nearly doubling in 8 months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LITE (601.6%) and COHR (121%) drove the majority of absolute returns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Max drawdown of -10.4% observed Nov–Dec 2025; SPY drawdown was shallower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DCA structure (Aug 8 + Aug 26 tranches) reduced timing risk on entry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MODULE 1 · BACKTESTER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Per-Ticker Return — Entry to Today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34440"/>
          <a:ext cx="85953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492A6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C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C64"/>
                </a:solidFill>
              </a:rPr>
              <a:t>MODULE 2 · RISK &amp; VAR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— Three Methodologies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123444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  <a:gridCol w="29260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C64"/>
                          </a:solidFill>
                        </a:rPr>
                        <a:t>Method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C64"/>
                          </a:solidFill>
                        </a:rPr>
                        <a:t>VaR 95%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C64"/>
                          </a:solidFill>
                        </a:rPr>
                        <a:t>VaR 99%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C64"/>
                          </a:solidFill>
                        </a:rPr>
                        <a:t>CVaR 95%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C64"/>
                          </a:solidFill>
                        </a:rPr>
                        <a:t>Note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8A838"/>
                          </a:solidFill>
                        </a:rPr>
                        <a:t>Historical Simulation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-3.37%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-4.79%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-4.23%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</a:rPr>
                        <a:t>PRIMARY — no distributional assumption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</a:rPr>
                        <a:t>Parametric (Var-Cov)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-3.06%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-4.47%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-3.92%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</a:rPr>
                        <a:t>Underestimates fat tails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</a:rPr>
                        <a:t>Monte Carlo (10k sims)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-3.08%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-4.46%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-3.95%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</a:rPr>
                        <a:t>Consistent with parametric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838"/>
                </a:solidFill>
              </a:rPr>
              <a:t>INTERPRETATION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2971800"/>
            <a:ext cx="2743200" cy="1554480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2971800"/>
            <a:ext cx="2743200" cy="54864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30632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40"/>
                </a:solidFill>
              </a:rPr>
              <a:t>Fat Tails Confirmed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" y="340156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Historical VaR (-3.37%) &gt; Parametric (-3.06%). Actual loss distribution has heavier tails than normal.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2971800"/>
            <a:ext cx="2743200" cy="1554480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297180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5848" y="30632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Daily Loss Threshold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55848" y="340156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5% chance of losing more than $4.14 on any given trading day (Historical, 95% confidence).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26480" y="2971800"/>
            <a:ext cx="2743200" cy="1554480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2971800"/>
            <a:ext cx="274320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30632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</a:rPr>
              <a:t>Expected Shortfall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36208" y="340156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When the VaR threshold is breached, the average loss (CVaR) is $5.20 — 26% worse than the VaR alone.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MODULE 2 · RISK &amp; VAR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Ratios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1508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2.53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C64"/>
                </a:solidFill>
              </a:rPr>
              <a:t>Sharpe Ratio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Excess return per unit total risk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55448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554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98DB"/>
                </a:solidFill>
              </a:rPr>
              <a:t>&gt; 1.0 = good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71600"/>
            <a:ext cx="73152" cy="15087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361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98DB"/>
                </a:solidFill>
              </a:rPr>
              <a:t>3.78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C64"/>
                </a:solidFill>
              </a:rPr>
              <a:t>Sortino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4505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Penalizes downside vol only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554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98DB"/>
                </a:solidFill>
              </a:rPr>
              <a:t>&gt; Sharpe = favorable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73152" cy="1508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821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E44AD"/>
                </a:solidFill>
              </a:rPr>
              <a:t>0.426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4864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C64"/>
                </a:solidFill>
              </a:rPr>
              <a:t>Treynor Ratio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0965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Excess return per unit market risk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320040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200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98DB"/>
                </a:solidFill>
              </a:rPr>
              <a:t>Higher = better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017520"/>
            <a:ext cx="73152" cy="1508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1821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838"/>
                </a:solidFill>
              </a:rPr>
              <a:t>73.4%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75488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C64"/>
                </a:solidFill>
              </a:rPr>
              <a:t>Jensen's Alpha (Ann.)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0965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Return above beta-explained benchmark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320040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200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98DB"/>
                </a:solidFill>
              </a:rPr>
              <a:t>Positive = skill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492A6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C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C64"/>
                </a:solidFill>
              </a:rPr>
              <a:t>MODULE 2 · RISK &amp; VAR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Per-Ticker Beta vs SPY — Concentration Risk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80160"/>
          <a:ext cx="56692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280160"/>
            <a:ext cx="2743200" cy="3520440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63640" y="1463040"/>
            <a:ext cx="16459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444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Low Beta &lt; 1.0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92240" y="16459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EQIX, GLD — defensive anchors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164592" cy="16459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039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98DB"/>
                </a:solidFill>
              </a:rPr>
              <a:t>Moderate 1.0–1.5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92240" y="2240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SNDR, GOOG — market-like moves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63640" y="2651760"/>
            <a:ext cx="164592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633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High Beta &gt; 1.5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92240" y="2834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7 positions — amplified moves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72200" y="3337560"/>
            <a:ext cx="2606040" cy="1188720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340156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A838"/>
                </a:solidFill>
              </a:rPr>
              <a:t>KEY RISK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63640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LITE + COHR both at beta ~3.0 and correlated at 0.72. A photonics correction would produce ~3× the SPY drawdown on these positions.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MODULE 2 · RISK &amp; VAR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— Diversification Reality 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3C64"/>
                </a:solidFill>
              </a:rPr>
              <a:t>NOTABLE CORRELATION PAIRS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72768"/>
          <a:ext cx="841248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914400"/>
                <a:gridCol w="4754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Pair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Correlation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C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LITE ↔ COHR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0.72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Same photonics thesis — functionally one position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VRT ↔ LITE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0.53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7040"/>
                          </a:solidFill>
                        </a:rPr>
                        <a:t>MOD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Data center + photonics overlap in AI infra theme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VRT ↔ COHR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0.54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7040"/>
                          </a:solidFill>
                        </a:rPr>
                        <a:t>MOD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Same AI infra demand driver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AVGO ↔ LITE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0.50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7040"/>
                          </a:solidFill>
                        </a:rPr>
                        <a:t>MOD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Semiconductor supply chain linkage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EQIX ↔ SNDR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-0.00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True diversifiers — effectively uncorrelated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GLD ↔ 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~0.15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Gold acts as genuine portfolio hedge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453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Takeaway: Only one highly correlated pair (LITE↔COHR &gt;0.70). Eleven positions overstate diversification — effective independent bets are closer to eight.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492A6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C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C64"/>
                </a:solidFill>
              </a:rPr>
              <a:t>MODULE 3 · LIVE SIGNALS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Signal Dashboard — April 08, 2026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3200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640080"/>
                <a:gridCol w="1097280"/>
                <a:gridCol w="1371600"/>
                <a:gridCol w="1188720"/>
                <a:gridCol w="1005840"/>
                <a:gridCol w="6400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3C64"/>
                          </a:solidFill>
                        </a:rPr>
                        <a:t>Ticker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3C64"/>
                          </a:solidFill>
                        </a:rPr>
                        <a:t>Price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3C64"/>
                          </a:solidFill>
                        </a:rPr>
                        <a:t>RSI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3C64"/>
                          </a:solidFill>
                        </a:rPr>
                        <a:t>RSI Signal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3C64"/>
                          </a:solidFill>
                        </a:rPr>
                        <a:t>MA Signal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3C64"/>
                          </a:solidFill>
                        </a:rPr>
                        <a:t>BB Signal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3C64"/>
                          </a:solidFill>
                        </a:rPr>
                        <a:t>Z Signal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3C64"/>
                          </a:solidFill>
                        </a:rPr>
                        <a:t>Score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COHR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$255.10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52.3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GOLDEN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MID BAND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NORMAL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CC71"/>
                          </a:solidFill>
                        </a:rPr>
                        <a:t>+1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GLD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$431.81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47.3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GOLDEN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MID BAND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NORMAL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CC71"/>
                          </a:solidFill>
                        </a:rPr>
                        <a:t>+1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GOOG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$303.93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54.8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GOLDEN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MID BAND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NORMAL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CC71"/>
                          </a:solidFill>
                        </a:rPr>
                        <a:t>+1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VRT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$262.30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54.6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GOLDEN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MID BAND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NORMAL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CC71"/>
                          </a:solidFill>
                        </a:rPr>
                        <a:t>+1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ANET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$133.64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53.3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GOLDEN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MID BAND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NORMAL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CC71"/>
                          </a:solidFill>
                        </a:rPr>
                        <a:t>+1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AMD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$221.53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59.7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GOLDEN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NEAR UPPER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NORMAL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A838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LITE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$815.75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59.9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GOLDEN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NEAR UPPER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NORMAL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A838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EQIX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$1007.29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68.4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GOLDEN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NEAR UPPER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NORMAL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A838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MRVL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$109.38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69.0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GOLDEN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NEAR UPPER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87040"/>
                          </a:solidFill>
                        </a:rPr>
                        <a:t>EXTENDED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</a:rPr>
                        <a:t>-1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AVGO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$333.97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57.9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NEUTRAL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</a:rPr>
                        <a:t>DEATH CROSS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NEAR UPPER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</a:rPr>
                        <a:t>NORMAL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</a:rPr>
                        <a:t>-2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No RSI extremes across all 11 positions — consistent with macro volatility compression (April 2026 tariff environment). Watch: AVGO death cross, MRVL z-score extended.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MODULE 3 · LIVE SIGNALS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Definitions &amp; Composite Scoring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274320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99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RSI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77393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2A6"/>
                </a:solidFill>
              </a:rPr>
              <a:t>14-period Wilder RSI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Oversold &lt;30 = +1  |  Neutral = 0  |  Overbought &gt;70 = -1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1389888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89888"/>
            <a:ext cx="274320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99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MA Cross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77393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2A6"/>
                </a:solidFill>
              </a:rPr>
              <a:t>50-day vs 200-day SMA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55848" y="20116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Golden Cross (50&gt;200) = +1  |  Death Cross = -1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1389888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89888"/>
            <a:ext cx="2743200" cy="54864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499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C64"/>
                </a:solidFill>
              </a:rPr>
              <a:t>Bollinger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177393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2A6"/>
                </a:solidFill>
              </a:rPr>
              <a:t>20-day, ±2σ bands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36208" y="20116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Near/Below Lower = +1  |  Mid = 0  |  Near/Above Upper = -1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34640"/>
            <a:ext cx="27432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9443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Z-Score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21868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2A6"/>
                </a:solidFill>
              </a:rPr>
              <a:t>60-day rolling mean &amp; std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345643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&lt; -2σ (Cheap) = +1  |  Normal = 0  |  &gt; +2σ (Extended) = -1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34640"/>
            <a:ext cx="27432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9443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</a:rPr>
              <a:t>Volume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55848" y="321868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2A6"/>
                </a:solidFill>
              </a:rPr>
              <a:t>Ratio to 20-day avg volume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5848" y="345643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High Vol (&gt;1.5×) = +1  |  Normal = 0  |  Low Vol (&lt;0.5×) = -0.5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89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Composite Score = sum of all signal scores. Range: -4 (fully bearish) to +4 (fully bullish). Equal-weighted — a v2 limitation to address.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492A6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3C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C64"/>
                </a:solidFill>
              </a:rPr>
              <a:t>LIMITATIONS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Study Constraints — v1 Disclosure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1078992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64008" cy="10789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Sample Size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664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165 trading days (~8 months). Sharpe, alpha, and all ratios carry wide confidence intervals. Not statistically robust.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114800" cy="1078992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98448"/>
            <a:ext cx="64008" cy="107899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40"/>
                </a:solidFill>
              </a:rPr>
              <a:t>Benchmark Selection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73752" y="1664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SPY returned only ~5% during the study period — an easy hurdle. QQQ and a photonics ETF benchmark comparison deferred to v2.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114800" cy="1078992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68880"/>
            <a:ext cx="64008" cy="107899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40"/>
                </a:solidFill>
              </a:rPr>
              <a:t>Concentration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LITE + COHR at 0.72 correlation = one photonics bet, not two. Eleven positions overstate diversification.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14800" cy="1078992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10789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Static Beta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752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Beta calculated as a single point estimate. Rolling beta analysis would reveal significant regime variation — not yet implemented.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4114800" cy="1078992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39312"/>
            <a:ext cx="64008" cy="10789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Hardcoded Portfolio NAV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0050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VaR dollar estimates used a static $123 input rather than dynamic NAV. Percentage VaR is correct; dollar figures are approximate.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639312"/>
            <a:ext cx="4114800" cy="1078992"/>
          </a:xfrm>
          <a:prstGeom prst="rect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39312"/>
            <a:ext cx="64008" cy="107899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No Transaction Costs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40050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Spreads, platform fees, and tax treatment excluded from all return and ratio calculations.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NEXT STEPS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— Research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502920" cy="10515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Expand benchmark 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Add QQQ, RAYS (photonics ETF) as additional benchmarks for fairer comparison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35331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53312"/>
            <a:ext cx="502920" cy="10515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5331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Rolling beta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737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Compute 30-day rolling beta to detect regime shifts around key market events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42032"/>
            <a:ext cx="502920" cy="1051560"/>
          </a:xfrm>
          <a:prstGeom prst="rect">
            <a:avLst/>
          </a:prstGeom>
          <a:solidFill>
            <a:srgbClr val="1C3C64"/>
          </a:solidFill>
          <a:ln w="12700">
            <a:solidFill>
              <a:srgbClr val="1C3C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4203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Dynamic NAV for VaR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Replace hardcoded portfolio value with live NAV calculation from Module 1 output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54203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542032"/>
            <a:ext cx="502920" cy="10515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54203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Confidence intervals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926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Bootstrap Sharpe and alpha estimates to report statistical uncertainty ranges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73075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30752"/>
            <a:ext cx="50292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3075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Transaction cost model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Incorporate spread estimates and tax lot accounting into net return calculations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73075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730752"/>
            <a:ext cx="502920" cy="105156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73075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C64"/>
                </a:solidFill>
              </a:rPr>
              <a:t>12-month extension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Minimum 252 trading days (1 full year) before drawing definitive strategic conclusions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492A6"/>
                </a:solidFill>
              </a:rPr>
              <a:t>CONFIDENTIAL — Investment Committee Use Only  |  Zaeem Hasan | Quant Portfolio Study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3C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838"/>
                </a:solidFill>
              </a:rPr>
              <a:t>CONCLUSION &amp; RECOMMENDATION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Observations for the Committee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347472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Performance merits monitoring —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8470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Sharpe 2.53, alpha 73.4% — strong risk-adjusted signal. Warrants continued observation and potential disciplined scale-up.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203704"/>
            <a:ext cx="347472" cy="34747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240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40"/>
                </a:solidFill>
              </a:rPr>
              <a:t>AVGO — watch flag —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2514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Death cross + near upper band = distribution pattern. Underperforming portfolio peers. Reassess on next earnings catalyst.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347472" cy="34747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9077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40"/>
                </a:solidFill>
              </a:rPr>
              <a:t>MRVL — limited near-term upside —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18211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Z-score extended (+2.79σ) + Bollinger near upper. Price appears stretched without a new fundamental catalyst.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347472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5753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Photonics concentration is primary risk —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8496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LITE + COHR at beta ~3.0, corr 0.72. A sector correction produces ~3× SPY drawdown on these positions.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347472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42428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12 months before conclusions —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45171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165 days is insufficient for statistical confidence. All ratios carry wide confidence intervals at current sample size.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492A6"/>
                </a:solidFill>
              </a:rPr>
              <a:t>Data: Yahoo Finance via yfinance  |  Python Modules 1–3 (Colab)  |  R Markdown Module 5 (Posit Cloud)  |  github.com/zaeemhasan/quant-portfolio-study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 Portfolio Study — Investment Committee Presentation</dc:title>
  <dc:subject>PptxGenJS Presentation</dc:subject>
  <dc:creator>Zaeem Hasan</dc:creator>
  <cp:lastModifiedBy>Zaeem Hasan</cp:lastModifiedBy>
  <cp:revision>1</cp:revision>
  <dcterms:created xsi:type="dcterms:W3CDTF">2026-04-08T21:30:50Z</dcterms:created>
  <dcterms:modified xsi:type="dcterms:W3CDTF">2026-04-08T21:30:50Z</dcterms:modified>
</cp:coreProperties>
</file>